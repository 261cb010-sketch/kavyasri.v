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17" r:id="rId5"/>
    <p:sldId id="318" r:id="rId6"/>
    <p:sldId id="326" r:id="rId7"/>
    <p:sldId id="319" r:id="rId8"/>
    <p:sldId id="320" r:id="rId9"/>
    <p:sldId id="321" r:id="rId10"/>
    <p:sldId id="324" r:id="rId11"/>
    <p:sldId id="325" r:id="rId12"/>
    <p:sldId id="30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jaya lakshmi" initials="vl" lastIdx="1" clrIdx="0">
    <p:extLst>
      <p:ext uri="{19B8F6BF-5375-455C-9EA6-DF929625EA0E}">
        <p15:presenceInfo xmlns:p15="http://schemas.microsoft.com/office/powerpoint/2012/main" userId="adee25923b5e04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8/4/2026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26008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central.ie/spotify-removes-75m-ai-slop-tracks-from-its-platform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france12.com/philippine-arnaque-sentimentale-faux-prince-dubai/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UI and UX comparison presentation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5E09D-97F9-EC44-9B32-2AF1B801E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CDE73-BB44-1FFD-97E2-D4F9A3861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8956" y="2271860"/>
            <a:ext cx="4190999" cy="2648932"/>
          </a:xfrm>
          <a:solidFill>
            <a:schemeClr val="tx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000" dirty="0"/>
              <a:t>Comparison between </a:t>
            </a:r>
            <a:r>
              <a:rPr lang="en-US" sz="4000" dirty="0" err="1"/>
              <a:t>spotify</a:t>
            </a:r>
            <a:r>
              <a:rPr lang="en-US" sz="4000" dirty="0"/>
              <a:t> and </a:t>
            </a:r>
            <a:r>
              <a:rPr lang="en-US" sz="4000" dirty="0" err="1"/>
              <a:t>youtube</a:t>
            </a:r>
            <a:r>
              <a:rPr lang="en-US" sz="4000" dirty="0"/>
              <a:t> music</a:t>
            </a:r>
            <a:endParaRPr lang="en-IN" sz="4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752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7947D-F087-1A86-B50B-47154BE1B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197EB2-788A-BF54-961A-233BBA4E67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65988"/>
            <a:ext cx="12192000" cy="6923988"/>
          </a:xfrm>
        </p:spPr>
      </p:pic>
    </p:spTree>
    <p:extLst>
      <p:ext uri="{BB962C8B-B14F-4D97-AF65-F5344CB8AC3E}">
        <p14:creationId xmlns:p14="http://schemas.microsoft.com/office/powerpoint/2010/main" val="4177489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AC4BD-C93F-0E1E-5CFB-65B75EDD7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Between Spotify and </a:t>
            </a:r>
            <a:r>
              <a:rPr lang="en-US" dirty="0" err="1"/>
              <a:t>youtube</a:t>
            </a:r>
            <a:r>
              <a:rPr lang="en-US" dirty="0"/>
              <a:t> music: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244A05A-02EF-6D7F-85F5-166922A5490F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3509" y="2066546"/>
            <a:ext cx="4397654" cy="3877054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BA038E9-91E7-24D2-863F-087E127E8164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357938" y="2066546"/>
            <a:ext cx="4576762" cy="3813257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7287B-A211-A610-B70D-86ABE1836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250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9A50F-F686-1CF4-1B6B-9E26BF36F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1085"/>
            <a:ext cx="7534656" cy="669303"/>
          </a:xfrm>
        </p:spPr>
        <p:txBody>
          <a:bodyPr/>
          <a:lstStyle/>
          <a:p>
            <a:r>
              <a:rPr lang="en-US" dirty="0"/>
              <a:t>Spotify: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1C8E2-AFC8-69D4-FAC2-D9ABD12B5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6370" y="6476214"/>
            <a:ext cx="278845" cy="299489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1CF4697-8921-AA18-2511-38DB95FB7D0B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444627583"/>
              </p:ext>
            </p:extLst>
          </p:nvPr>
        </p:nvGraphicFramePr>
        <p:xfrm>
          <a:off x="6344240" y="6409943"/>
          <a:ext cx="62484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09077877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2032671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50096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674590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6577B070-89CF-1C08-8558-81087B479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520" y="1599807"/>
            <a:ext cx="2381250" cy="1905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FFE053-DC49-6311-D6DA-0581E4406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160" y="1597450"/>
            <a:ext cx="2846895" cy="1905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8D62302-FC5D-7C19-58B5-54C33FF3E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60" y="1599807"/>
            <a:ext cx="3053991" cy="1905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7BE12A8-2D65-1A34-44F1-1B3A99A1A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414" y="4119513"/>
            <a:ext cx="2381250" cy="196530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8EE272-DE9F-9313-8704-CCDC6DEC0F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0409" y="4149664"/>
            <a:ext cx="2742905" cy="1905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1EBCE80-EA5B-B111-49A7-D2B63FADAD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9080" y="4179816"/>
            <a:ext cx="3053991" cy="1905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44C43B3-D604-BA75-3B27-356680BE685B}"/>
              </a:ext>
            </a:extLst>
          </p:cNvPr>
          <p:cNvSpPr txBox="1"/>
          <p:nvPr/>
        </p:nvSpPr>
        <p:spPr>
          <a:xfrm>
            <a:off x="1087521" y="1197204"/>
            <a:ext cx="193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Login screen: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08F998-6094-5EB5-566C-93BD2122A9B7}"/>
              </a:ext>
            </a:extLst>
          </p:cNvPr>
          <p:cNvSpPr txBox="1"/>
          <p:nvPr/>
        </p:nvSpPr>
        <p:spPr>
          <a:xfrm>
            <a:off x="3817489" y="1230475"/>
            <a:ext cx="1433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Home screen: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679A06-F328-4F09-8B9A-1A91DF1902B2}"/>
              </a:ext>
            </a:extLst>
          </p:cNvPr>
          <p:cNvSpPr txBox="1"/>
          <p:nvPr/>
        </p:nvSpPr>
        <p:spPr>
          <a:xfrm>
            <a:off x="6922060" y="1230475"/>
            <a:ext cx="1894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Search screen: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268779-8946-B751-362D-E78136F93AC7}"/>
              </a:ext>
            </a:extLst>
          </p:cNvPr>
          <p:cNvSpPr txBox="1"/>
          <p:nvPr/>
        </p:nvSpPr>
        <p:spPr>
          <a:xfrm>
            <a:off x="1100414" y="3810484"/>
            <a:ext cx="2243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Profile screen:</a:t>
            </a: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B2B1D1-1A34-C16E-437C-3B0E451B056D}"/>
              </a:ext>
            </a:extLst>
          </p:cNvPr>
          <p:cNvSpPr txBox="1"/>
          <p:nvPr/>
        </p:nvSpPr>
        <p:spPr>
          <a:xfrm>
            <a:off x="3789577" y="3750180"/>
            <a:ext cx="2554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Product/playing screen: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8B2D43-EF11-3C69-6ADC-3B3A575847D5}"/>
              </a:ext>
            </a:extLst>
          </p:cNvPr>
          <p:cNvSpPr txBox="1"/>
          <p:nvPr/>
        </p:nvSpPr>
        <p:spPr>
          <a:xfrm>
            <a:off x="6922059" y="3810484"/>
            <a:ext cx="1993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Setting screen: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4269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7EF8-269E-AD5B-5046-D732CE51B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536" y="716278"/>
            <a:ext cx="8401839" cy="914400"/>
          </a:xfrm>
        </p:spPr>
        <p:txBody>
          <a:bodyPr/>
          <a:lstStyle/>
          <a:p>
            <a:r>
              <a:rPr lang="en-US" sz="1800" dirty="0"/>
              <a:t>login screen:                                      home screen:                                      search screen:                   </a:t>
            </a: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31C39-72BA-241A-6737-F911F1C24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72A789-9E1C-20BC-F431-719772065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536" y="1683392"/>
            <a:ext cx="2381250" cy="190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B2B002-48B3-3137-BC54-8A14513D9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830" y="1683392"/>
            <a:ext cx="2381250" cy="1905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203A75-A589-A178-4BB2-B5697E80B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125" y="1691640"/>
            <a:ext cx="2381250" cy="1905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DEF05D-9FF4-4FF0-7F7D-59D262E696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2536" y="4349920"/>
            <a:ext cx="2381250" cy="1905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F77D993-5328-7B18-74EE-5F40F3FEC9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3358" y="4373880"/>
            <a:ext cx="2381250" cy="1905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EE3311A-7F8E-F68F-C660-4258D4910D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1959" y="4349920"/>
            <a:ext cx="2381250" cy="1905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729F0A3-A2DD-9779-B7CC-917D5FB4D970}"/>
              </a:ext>
            </a:extLst>
          </p:cNvPr>
          <p:cNvSpPr txBox="1"/>
          <p:nvPr/>
        </p:nvSpPr>
        <p:spPr>
          <a:xfrm>
            <a:off x="1652536" y="3980588"/>
            <a:ext cx="2667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Play screen: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5D0E93-C470-6CB0-FE77-17F87DE7BBE1}"/>
              </a:ext>
            </a:extLst>
          </p:cNvPr>
          <p:cNvSpPr txBox="1"/>
          <p:nvPr/>
        </p:nvSpPr>
        <p:spPr>
          <a:xfrm>
            <a:off x="4662830" y="3980588"/>
            <a:ext cx="1849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Profile screen: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A44D05-ECA4-521D-CD82-ADD064C32B14}"/>
              </a:ext>
            </a:extLst>
          </p:cNvPr>
          <p:cNvSpPr txBox="1"/>
          <p:nvPr/>
        </p:nvSpPr>
        <p:spPr>
          <a:xfrm>
            <a:off x="7883358" y="3980588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Setting screen: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14A93D-258E-35DA-0ACE-88DD6D128B6F}"/>
              </a:ext>
            </a:extLst>
          </p:cNvPr>
          <p:cNvSpPr txBox="1"/>
          <p:nvPr/>
        </p:nvSpPr>
        <p:spPr>
          <a:xfrm>
            <a:off x="697585" y="575035"/>
            <a:ext cx="4091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2">
                    <a:lumMod val="10000"/>
                  </a:schemeClr>
                </a:solidFill>
                <a:latin typeface="Algerian" panose="04020705040A02060702" pitchFamily="82" charset="0"/>
              </a:rPr>
              <a:t>Youtube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Algerian" panose="04020705040A02060702" pitchFamily="82" charset="0"/>
              </a:rPr>
              <a:t>music</a:t>
            </a:r>
            <a:r>
              <a:rPr lang="en-US" dirty="0"/>
              <a:t>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349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BA98-FB5D-718A-2C69-84D9FA39A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between Spotify and </a:t>
            </a:r>
            <a:r>
              <a:rPr lang="en-US" dirty="0" err="1"/>
              <a:t>Youtube</a:t>
            </a:r>
            <a:r>
              <a:rPr lang="en-US" dirty="0"/>
              <a:t> music:</a:t>
            </a:r>
            <a:br>
              <a:rPr lang="en-US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250A0-C23B-5957-86A4-5979856E5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8" name="Table Placeholder 7">
            <a:extLst>
              <a:ext uri="{FF2B5EF4-FFF2-40B4-BE49-F238E27FC236}">
                <a16:creationId xmlns:a16="http://schemas.microsoft.com/office/drawing/2014/main" id="{5B302101-20E0-0A86-D4F0-1252EF321709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820035666"/>
              </p:ext>
            </p:extLst>
          </p:nvPr>
        </p:nvGraphicFramePr>
        <p:xfrm>
          <a:off x="914400" y="2038350"/>
          <a:ext cx="10360024" cy="502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80012">
                  <a:extLst>
                    <a:ext uri="{9D8B030D-6E8A-4147-A177-3AD203B41FA5}">
                      <a16:colId xmlns:a16="http://schemas.microsoft.com/office/drawing/2014/main" val="784768092"/>
                    </a:ext>
                  </a:extLst>
                </a:gridCol>
                <a:gridCol w="5180012">
                  <a:extLst>
                    <a:ext uri="{9D8B030D-6E8A-4147-A177-3AD203B41FA5}">
                      <a16:colId xmlns:a16="http://schemas.microsoft.com/office/drawing/2014/main" val="2957149053"/>
                    </a:ext>
                  </a:extLst>
                </a:gridCol>
              </a:tblGrid>
              <a:tr h="401365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Rounded MT Bold" panose="020F0704030504030204" pitchFamily="34" charset="0"/>
                        </a:rPr>
                        <a:t>Logo and branding:</a:t>
                      </a:r>
                    </a:p>
                    <a:p>
                      <a:r>
                        <a:rPr lang="en-US" dirty="0">
                          <a:latin typeface="Arial Rounded MT Bold" panose="020F0704030504030204" pitchFamily="34" charset="0"/>
                        </a:rPr>
                        <a:t>   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Arial Rounded MT Bold" panose="020F0704030504030204" pitchFamily="34" charset="0"/>
                        </a:rPr>
                        <a:t>Neon green </a:t>
                      </a:r>
                      <a:r>
                        <a:rPr lang="en-US" dirty="0" err="1">
                          <a:latin typeface="Arial Rounded MT Bold" panose="020F0704030504030204" pitchFamily="34" charset="0"/>
                        </a:rPr>
                        <a:t>colour</a:t>
                      </a:r>
                      <a:r>
                        <a:rPr lang="en-US" dirty="0">
                          <a:latin typeface="Arial Rounded MT Bold" panose="020F0704030504030204" pitchFamily="34" charset="0"/>
                        </a:rPr>
                        <a:t> icon with three black sound waves.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Arial Rounded MT Bold" panose="020F0704030504030204" pitchFamily="34" charset="0"/>
                        </a:rPr>
                        <a:t>Color scheme: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Arial Rounded MT Bold" panose="020F0704030504030204" pitchFamily="34" charset="0"/>
                        </a:rPr>
                        <a:t> *   Deep slate grey to charcoal background.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Arial Rounded MT Bold" panose="020F0704030504030204" pitchFamily="34" charset="0"/>
                        </a:rPr>
                        <a:t> *   high contrast hierarchy that keeps focus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Arial Rounded MT Bold" panose="020F0704030504030204" pitchFamily="34" charset="0"/>
                        </a:rPr>
                        <a:t>      on albums.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Arial Rounded MT Bold" panose="020F0704030504030204" pitchFamily="34" charset="0"/>
                        </a:rPr>
                        <a:t>Typography: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Arial Rounded MT Bold" panose="020F0704030504030204" pitchFamily="34" charset="0"/>
                        </a:rPr>
                        <a:t> *   </a:t>
                      </a:r>
                      <a:r>
                        <a:rPr lang="en-US" dirty="0" err="1">
                          <a:latin typeface="Arial Rounded MT Bold" panose="020F0704030504030204" pitchFamily="34" charset="0"/>
                        </a:rPr>
                        <a:t>cústomized</a:t>
                      </a:r>
                      <a:r>
                        <a:rPr lang="en-US" dirty="0">
                          <a:latin typeface="Arial Rounded MT Bold" panose="020F0704030504030204" pitchFamily="34" charset="0"/>
                        </a:rPr>
                        <a:t> circular sans serif font.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Arial Rounded MT Bold" panose="020F0704030504030204" pitchFamily="34" charset="0"/>
                        </a:rPr>
                        <a:t>Icons: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Arial Rounded MT Bold" panose="020F0704030504030204" pitchFamily="34" charset="0"/>
                        </a:rPr>
                        <a:t> *   Custom outlines icons.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Arial Rounded MT Bold" panose="020F0704030504030204" pitchFamily="34" charset="0"/>
                        </a:rPr>
                        <a:t> *    highly intuitive.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Arial Rounded MT Bold" panose="020F0704030504030204" pitchFamily="34" charset="0"/>
                        </a:rPr>
                        <a:t>Buttons: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Arial Rounded MT Bold" panose="020F0704030504030204" pitchFamily="34" charset="0"/>
                        </a:rPr>
                        <a:t> *    pill shaped buttons.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Arial Rounded MT Bold" panose="020F0704030504030204" pitchFamily="34" charset="0"/>
                        </a:rPr>
                        <a:t> *    high contrast neon targets.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>
                        <a:latin typeface="Arial Rounded MT Bold" panose="020F070403050403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I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latin typeface="Arial Rounded MT Bold" panose="020F0704030504030204" pitchFamily="34" charset="0"/>
                        </a:rPr>
                        <a:t>Uses red play button </a:t>
                      </a:r>
                      <a:r>
                        <a:rPr lang="en-IN" dirty="0" err="1">
                          <a:latin typeface="Arial Rounded MT Bold" panose="020F0704030504030204" pitchFamily="34" charset="0"/>
                        </a:rPr>
                        <a:t>nclosd</a:t>
                      </a:r>
                      <a:r>
                        <a:rPr lang="en-IN" dirty="0">
                          <a:latin typeface="Arial Rounded MT Bold" panose="020F0704030504030204" pitchFamily="34" charset="0"/>
                        </a:rPr>
                        <a:t> in red circular ring.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>
                        <a:latin typeface="Arial Rounded MT Bold" panose="020F07040305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latin typeface="Arial Rounded MT Bold" panose="020F0704030504030204" pitchFamily="34" charset="0"/>
                        </a:rPr>
                        <a:t>True OLED pure black with strong visual contrast.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>
                        <a:latin typeface="Arial Rounded MT Bold" panose="020F07040305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>
                        <a:latin typeface="Arial Rounded MT Bold" panose="020F07040305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latin typeface="Arial Rounded MT Bold" panose="020F0704030504030204" pitchFamily="34" charset="0"/>
                        </a:rPr>
                        <a:t>Uses google </a:t>
                      </a:r>
                      <a:r>
                        <a:rPr lang="en-IN" dirty="0" err="1">
                          <a:latin typeface="Arial Rounded MT Bold" panose="020F0704030504030204" pitchFamily="34" charset="0"/>
                        </a:rPr>
                        <a:t>roboto</a:t>
                      </a:r>
                      <a:r>
                        <a:rPr lang="en-IN" dirty="0">
                          <a:latin typeface="Arial Rounded MT Bold" panose="020F0704030504030204" pitchFamily="34" charset="0"/>
                        </a:rPr>
                        <a:t> / product sans extremely clean.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>
                        <a:latin typeface="Arial Rounded MT Bold" panose="020F07040305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latin typeface="Arial Rounded MT Bold" panose="020F0704030504030204" pitchFamily="34" charset="0"/>
                        </a:rPr>
                        <a:t>Standard google material design icons.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>
                        <a:latin typeface="Arial Rounded MT Bold" panose="020F07040305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>
                          <a:latin typeface="Arial Rounded MT Bold" panose="020F0704030504030204" pitchFamily="34" charset="0"/>
                        </a:rPr>
                        <a:t>Material design circular and </a:t>
                      </a:r>
                      <a:r>
                        <a:rPr lang="en-IN">
                          <a:latin typeface="Arial Rounded MT Bold" panose="020F0704030504030204" pitchFamily="34" charset="0"/>
                        </a:rPr>
                        <a:t>capsule buttons.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741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9284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34C3-0EA6-9A5D-5CDE-A144CFC71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35670"/>
            <a:ext cx="10360152" cy="791852"/>
          </a:xfrm>
        </p:spPr>
        <p:txBody>
          <a:bodyPr/>
          <a:lstStyle/>
          <a:p>
            <a:r>
              <a:rPr lang="en-US" dirty="0"/>
              <a:t>Spotify:                                                     </a:t>
            </a:r>
            <a:r>
              <a:rPr lang="en-US" dirty="0" err="1"/>
              <a:t>Youtube</a:t>
            </a:r>
            <a:r>
              <a:rPr lang="en-US" dirty="0"/>
              <a:t> music:</a:t>
            </a:r>
            <a:endParaRPr lang="en-IN" dirty="0"/>
          </a:p>
        </p:txBody>
      </p:sp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256D3F62-281B-CDAA-9C3A-5641266533AA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4260042567"/>
              </p:ext>
            </p:extLst>
          </p:nvPr>
        </p:nvGraphicFramePr>
        <p:xfrm>
          <a:off x="697584" y="1187777"/>
          <a:ext cx="10774803" cy="5125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3495">
                  <a:extLst>
                    <a:ext uri="{9D8B030D-6E8A-4147-A177-3AD203B41FA5}">
                      <a16:colId xmlns:a16="http://schemas.microsoft.com/office/drawing/2014/main" val="541339734"/>
                    </a:ext>
                  </a:extLst>
                </a:gridCol>
                <a:gridCol w="5441308">
                  <a:extLst>
                    <a:ext uri="{9D8B030D-6E8A-4147-A177-3AD203B41FA5}">
                      <a16:colId xmlns:a16="http://schemas.microsoft.com/office/drawing/2014/main" val="2416651403"/>
                    </a:ext>
                  </a:extLst>
                </a:gridCol>
              </a:tblGrid>
              <a:tr h="5125825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Rounded MT Bold" panose="020F0704030504030204" pitchFamily="34" charset="0"/>
                        </a:rPr>
                        <a:t>                                                               </a:t>
                      </a:r>
                    </a:p>
                    <a:p>
                      <a:r>
                        <a:rPr lang="en-IN" dirty="0">
                          <a:latin typeface="Arial Rounded MT Bold" panose="020F0704030504030204" pitchFamily="34" charset="0"/>
                        </a:rPr>
                        <a:t> Advantages: </a:t>
                      </a:r>
                    </a:p>
                    <a:p>
                      <a:r>
                        <a:rPr lang="en-IN" dirty="0">
                          <a:latin typeface="Arial Rounded MT Bold" panose="020F0704030504030204" pitchFamily="34" charset="0"/>
                        </a:rPr>
                        <a:t>      </a:t>
                      </a:r>
                    </a:p>
                    <a:p>
                      <a:r>
                        <a:rPr lang="en-IN" dirty="0">
                          <a:latin typeface="Arial Rounded MT Bold" panose="020F0704030504030204" pitchFamily="34" charset="0"/>
                        </a:rPr>
                        <a:t>      * best in class music discovery.</a:t>
                      </a:r>
                    </a:p>
                    <a:p>
                      <a:r>
                        <a:rPr lang="en-IN" dirty="0">
                          <a:latin typeface="Arial Rounded MT Bold" panose="020F0704030504030204" pitchFamily="34" charset="0"/>
                        </a:rPr>
                        <a:t>      * superior social features.</a:t>
                      </a:r>
                    </a:p>
                    <a:p>
                      <a:r>
                        <a:rPr lang="en-IN" dirty="0">
                          <a:latin typeface="Arial Rounded MT Bold" panose="020F0704030504030204" pitchFamily="34" charset="0"/>
                        </a:rPr>
                        <a:t>      * easy playback.</a:t>
                      </a:r>
                    </a:p>
                    <a:p>
                      <a:r>
                        <a:rPr lang="en-IN" dirty="0">
                          <a:latin typeface="Arial Rounded MT Bold" panose="020F0704030504030204" pitchFamily="34" charset="0"/>
                        </a:rPr>
                        <a:t>      * all in one audio editor.</a:t>
                      </a:r>
                    </a:p>
                    <a:p>
                      <a:endParaRPr lang="en-IN" dirty="0">
                        <a:latin typeface="Arial Rounded MT Bold" panose="020F0704030504030204" pitchFamily="34" charset="0"/>
                      </a:endParaRPr>
                    </a:p>
                    <a:p>
                      <a:r>
                        <a:rPr lang="en-IN" dirty="0">
                          <a:latin typeface="Arial Rounded MT Bold" panose="020F0704030504030204" pitchFamily="34" charset="0"/>
                        </a:rPr>
                        <a:t>Disadvantages:</a:t>
                      </a:r>
                    </a:p>
                    <a:p>
                      <a:r>
                        <a:rPr lang="en-IN" dirty="0">
                          <a:latin typeface="Arial Rounded MT Bold" panose="020F0704030504030204" pitchFamily="34" charset="0"/>
                        </a:rPr>
                        <a:t>      * catalogue limits.</a:t>
                      </a:r>
                    </a:p>
                    <a:p>
                      <a:r>
                        <a:rPr lang="en-IN" dirty="0">
                          <a:latin typeface="Arial Rounded MT Bold" panose="020F0704030504030204" pitchFamily="34" charset="0"/>
                        </a:rPr>
                        <a:t>       * free tier limits.                                                               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Rounded MT Bold" panose="020F0704030504030204" pitchFamily="34" charset="0"/>
                        </a:rPr>
                        <a:t>           </a:t>
                      </a:r>
                    </a:p>
                    <a:p>
                      <a:r>
                        <a:rPr lang="en-US" dirty="0">
                          <a:latin typeface="Arial Rounded MT Bold" panose="020F0704030504030204" pitchFamily="34" charset="0"/>
                        </a:rPr>
                        <a:t>Advantages:</a:t>
                      </a:r>
                    </a:p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  <a:p>
                      <a:r>
                        <a:rPr lang="en-US" dirty="0">
                          <a:latin typeface="Arial Rounded MT Bold" panose="020F0704030504030204" pitchFamily="34" charset="0"/>
                        </a:rPr>
                        <a:t>    * unrivaled content library.</a:t>
                      </a:r>
                    </a:p>
                    <a:p>
                      <a:r>
                        <a:rPr lang="en-US" dirty="0">
                          <a:latin typeface="Arial Rounded MT Bold" panose="020F0704030504030204" pitchFamily="34" charset="0"/>
                        </a:rPr>
                        <a:t>    * seamless music video.</a:t>
                      </a:r>
                    </a:p>
                    <a:p>
                      <a:r>
                        <a:rPr lang="en-US" dirty="0">
                          <a:latin typeface="Arial Rounded MT Bold" panose="020F0704030504030204" pitchFamily="34" charset="0"/>
                        </a:rPr>
                        <a:t>    * incredible value.</a:t>
                      </a:r>
                    </a:p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  <a:p>
                      <a:endParaRPr lang="en-US" dirty="0">
                        <a:latin typeface="Arial Rounded MT Bold" panose="020F0704030504030204" pitchFamily="34" charset="0"/>
                      </a:endParaRPr>
                    </a:p>
                    <a:p>
                      <a:r>
                        <a:rPr lang="en-US" dirty="0">
                          <a:latin typeface="Arial Rounded MT Bold" panose="020F0704030504030204" pitchFamily="34" charset="0"/>
                        </a:rPr>
                        <a:t>Disadvantages:</a:t>
                      </a:r>
                    </a:p>
                    <a:p>
                      <a:r>
                        <a:rPr lang="en-US" dirty="0">
                          <a:latin typeface="Arial Rounded MT Bold" panose="020F0704030504030204" pitchFamily="34" charset="0"/>
                        </a:rPr>
                        <a:t>    * less polished ecosystem.</a:t>
                      </a:r>
                    </a:p>
                    <a:p>
                      <a:r>
                        <a:rPr lang="en-US" dirty="0">
                          <a:latin typeface="Arial Rounded MT Bold" panose="020F0704030504030204" pitchFamily="34" charset="0"/>
                        </a:rPr>
                        <a:t>    * podcasts feel cluttered.      </a:t>
                      </a:r>
                      <a:endParaRPr lang="en-IN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96057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B9558-0F68-AC57-8D21-269224C1B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47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{578AF4DA-64EF-4901-993B-352DF32F632B}TF1ed9553b-00c4-4092-846a-c8f7f2908f3beecd942f_win32-8e33096c3cfc</Template>
  <TotalTime>140</TotalTime>
  <Words>283</Words>
  <Application>Microsoft Office PowerPoint</Application>
  <PresentationFormat>Widescreen</PresentationFormat>
  <Paragraphs>75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Algerian</vt:lpstr>
      <vt:lpstr>Arial</vt:lpstr>
      <vt:lpstr>Arial Rounded MT Bold</vt:lpstr>
      <vt:lpstr>Calibri</vt:lpstr>
      <vt:lpstr>Courier New</vt:lpstr>
      <vt:lpstr>Gill Sans Nova Light</vt:lpstr>
      <vt:lpstr>Sagona Book</vt:lpstr>
      <vt:lpstr>Custom</vt:lpstr>
      <vt:lpstr>UI and UX comparison presentation </vt:lpstr>
      <vt:lpstr>Agenda </vt:lpstr>
      <vt:lpstr>PowerPoint Presentation</vt:lpstr>
      <vt:lpstr>Comparison Between Spotify and youtube music:</vt:lpstr>
      <vt:lpstr>Spotify:</vt:lpstr>
      <vt:lpstr>login screen:                                      home screen:                                      search screen:                   </vt:lpstr>
      <vt:lpstr>Comparison between Spotify and Youtube music: </vt:lpstr>
      <vt:lpstr>Spotify:                                                     Youtube music: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vijaya lakshmi</dc:creator>
  <cp:lastModifiedBy>vijaya lakshmi</cp:lastModifiedBy>
  <cp:revision>3</cp:revision>
  <dcterms:created xsi:type="dcterms:W3CDTF">2026-08-03T14:57:40Z</dcterms:created>
  <dcterms:modified xsi:type="dcterms:W3CDTF">2026-08-04T11:53:07Z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